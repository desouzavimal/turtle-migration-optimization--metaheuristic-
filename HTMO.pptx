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1"/>
  </p:sldMasterIdLst>
  <p:sldIdLst>
    <p:sldId id="256" r:id="rId2"/>
    <p:sldId id="258" r:id="rId3"/>
    <p:sldId id="274" r:id="rId4"/>
    <p:sldId id="275" r:id="rId5"/>
    <p:sldId id="259" r:id="rId6"/>
    <p:sldId id="278" r:id="rId7"/>
    <p:sldId id="276" r:id="rId8"/>
    <p:sldId id="264" r:id="rId9"/>
    <p:sldId id="260" r:id="rId10"/>
    <p:sldId id="270" r:id="rId11"/>
    <p:sldId id="271" r:id="rId12"/>
    <p:sldId id="272" r:id="rId13"/>
    <p:sldId id="262" r:id="rId14"/>
    <p:sldId id="265" r:id="rId15"/>
    <p:sldId id="273" r:id="rId16"/>
    <p:sldId id="266" r:id="rId17"/>
    <p:sldId id="267" r:id="rId18"/>
    <p:sldId id="268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09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5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99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58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164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54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000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193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888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538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160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9474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334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081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834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547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96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35F9AC2-1EE5-4A92-94E1-A5EF55EC7247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97C323B-F9FA-4EC2-AD4E-FE0FC7730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0068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  <p:sldLayoutId id="214748389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owerpoint Cute Turtle Background Template | PosterMyWall">
            <a:extLst>
              <a:ext uri="{FF2B5EF4-FFF2-40B4-BE49-F238E27FC236}">
                <a16:creationId xmlns:a16="http://schemas.microsoft.com/office/drawing/2014/main" id="{6F11D7F1-BE7B-93D4-FD45-43BC5A4A4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0AE331-7C9A-5890-3F11-222A551373FD}"/>
              </a:ext>
            </a:extLst>
          </p:cNvPr>
          <p:cNvSpPr txBox="1"/>
          <p:nvPr/>
        </p:nvSpPr>
        <p:spPr>
          <a:xfrm>
            <a:off x="285135" y="2147551"/>
            <a:ext cx="11228437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HTMO  – Hybrid Turtle Migration Optimization</a:t>
            </a:r>
          </a:p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Subtitle: A Bio-Inspired Algorithm Based on Sea Turtle Life Cycle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1FAB8-FCFB-3303-822C-119778BA44E8}"/>
              </a:ext>
            </a:extLst>
          </p:cNvPr>
          <p:cNvSpPr txBox="1"/>
          <p:nvPr/>
        </p:nvSpPr>
        <p:spPr>
          <a:xfrm>
            <a:off x="8386916" y="4906297"/>
            <a:ext cx="1925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Vimal De Souza</a:t>
            </a:r>
          </a:p>
          <a:p>
            <a:r>
              <a:rPr lang="en-US" dirty="0">
                <a:solidFill>
                  <a:schemeClr val="bg1"/>
                </a:solidFill>
              </a:rPr>
              <a:t>1135446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1B26-11BC-E2CE-BEB3-0AF5E9C7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710" y="288958"/>
            <a:ext cx="1049102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Bio-Inspiration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E181CC-8A17-5D31-4EC7-2FC660E4D137}"/>
              </a:ext>
            </a:extLst>
          </p:cNvPr>
          <p:cNvSpPr txBox="1"/>
          <p:nvPr/>
        </p:nvSpPr>
        <p:spPr>
          <a:xfrm>
            <a:off x="430161" y="1538346"/>
            <a:ext cx="1143737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inspiration behind creating this new sea turtle-based algorithm stemmed from my interest in the Heuristic Optimization course. However, I initially struggled with 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and how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begin the process.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this, I used a 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reverse-thinking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approach. I started by identifying the types of 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 wanted the algorithm to solve mainly 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travel-related optimization problems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as the Travelling Salesman Problem (TSP), Vehicle Routing Problem (VRP), and logistics-related scenarios.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led me to seek inspiration from nature, particularly 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creatures known for long-distance travel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 wanted the algorithm to reflect a 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 search space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Considering that most of the 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 is covered by oceans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 focused on ocean-based creatures. I recalled that 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 turtles are capable of traveling thousands of miles across the ocean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eventually return to the same beach where they were born. This unique behavior caught my attention.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found that their life journey from hatching on a beach, surviving the vast ocean, migrating for years, and returning to the origin mirrored the structure of heuristic optimization algorithms. For instance, the 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hatching represents the initial population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 represents exploration paths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(as in TSP or VRP), and the 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to the nesting beach resembles convergence or solution refinement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natural process aligned well with algorithmic principles, so I decided to dive deeper into sea turtle behavior, which eventually became the foundation for my algorithm.</a:t>
            </a:r>
          </a:p>
        </p:txBody>
      </p:sp>
    </p:spTree>
    <p:extLst>
      <p:ext uri="{BB962C8B-B14F-4D97-AF65-F5344CB8AC3E}">
        <p14:creationId xmlns:p14="http://schemas.microsoft.com/office/powerpoint/2010/main" val="255695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Sea Turtle Life Cycle Vectors - Download Free High-Quality Vectors from  Freepik | Freepik">
            <a:extLst>
              <a:ext uri="{FF2B5EF4-FFF2-40B4-BE49-F238E27FC236}">
                <a16:creationId xmlns:a16="http://schemas.microsoft.com/office/drawing/2014/main" id="{2EF63DCC-3162-976F-0AD5-EAB55DE38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64" y="521109"/>
            <a:ext cx="3836369" cy="342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4D4D3B-14AE-EFCB-6000-98D9453C6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040" y="521109"/>
            <a:ext cx="5380243" cy="541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801FE654-6672-0BEF-B67E-B4205E5A8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67" y="110613"/>
            <a:ext cx="6567641" cy="663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536C97-0BBD-996B-718B-653E93431E0B}"/>
              </a:ext>
            </a:extLst>
          </p:cNvPr>
          <p:cNvSpPr txBox="1"/>
          <p:nvPr/>
        </p:nvSpPr>
        <p:spPr>
          <a:xfrm>
            <a:off x="6990733" y="816076"/>
            <a:ext cx="5016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Juvenile/Lost Stage- They carried by ocean currents (Random exploration)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4CE64-2294-8C1E-047C-DEBFE9C2C3F5}"/>
              </a:ext>
            </a:extLst>
          </p:cNvPr>
          <p:cNvSpPr txBox="1"/>
          <p:nvPr/>
        </p:nvSpPr>
        <p:spPr>
          <a:xfrm>
            <a:off x="6990734" y="1558413"/>
            <a:ext cx="50163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Adulthood/ Foraging- They </a:t>
            </a:r>
            <a:r>
              <a:rPr lang="en-IN" b="1" dirty="0">
                <a:solidFill>
                  <a:schemeClr val="bg1"/>
                </a:solidFill>
              </a:rPr>
              <a:t>USE</a:t>
            </a:r>
            <a:r>
              <a:rPr lang="en-IN" dirty="0">
                <a:solidFill>
                  <a:schemeClr val="bg1"/>
                </a:solidFill>
              </a:rPr>
              <a:t> the deep sea current to travel between Nesting and food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513D79-7263-5EFA-CD69-18F8321869EB}"/>
              </a:ext>
            </a:extLst>
          </p:cNvPr>
          <p:cNvSpPr txBox="1"/>
          <p:nvPr/>
        </p:nvSpPr>
        <p:spPr>
          <a:xfrm>
            <a:off x="6990733" y="3027713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Magnetic Field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4D0581-2BAB-63CD-6333-25164FF47360}"/>
              </a:ext>
            </a:extLst>
          </p:cNvPr>
          <p:cNvSpPr txBox="1"/>
          <p:nvPr/>
        </p:nvSpPr>
        <p:spPr>
          <a:xfrm>
            <a:off x="6990733" y="3429000"/>
            <a:ext cx="47580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1.Strength of the magnetic Field</a:t>
            </a:r>
          </a:p>
          <a:p>
            <a:r>
              <a:rPr lang="en-US" dirty="0">
                <a:solidFill>
                  <a:schemeClr val="bg1"/>
                </a:solidFill>
              </a:rPr>
              <a:t>2. Angle/Direction of the magnetic field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8FD106-379B-8C9C-F63E-5932A5FB06BC}"/>
              </a:ext>
            </a:extLst>
          </p:cNvPr>
          <p:cNvSpPr txBox="1"/>
          <p:nvPr/>
        </p:nvSpPr>
        <p:spPr>
          <a:xfrm>
            <a:off x="6990733" y="463639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Ocean Current </a:t>
            </a:r>
          </a:p>
        </p:txBody>
      </p:sp>
    </p:spTree>
    <p:extLst>
      <p:ext uri="{BB962C8B-B14F-4D97-AF65-F5344CB8AC3E}">
        <p14:creationId xmlns:p14="http://schemas.microsoft.com/office/powerpoint/2010/main" val="3878647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8D3D7-8D29-2953-A022-BC658B965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4D6B-C251-C83D-6096-7637935C0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803" y="239082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High-Level Algorithm Structure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BF49BE-9071-E551-D493-35B2A4E08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197815"/>
              </p:ext>
            </p:extLst>
          </p:nvPr>
        </p:nvGraphicFramePr>
        <p:xfrm>
          <a:off x="1081548" y="1484671"/>
          <a:ext cx="9743768" cy="51342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5942">
                  <a:extLst>
                    <a:ext uri="{9D8B030D-6E8A-4147-A177-3AD203B41FA5}">
                      <a16:colId xmlns:a16="http://schemas.microsoft.com/office/drawing/2014/main" val="180979857"/>
                    </a:ext>
                  </a:extLst>
                </a:gridCol>
                <a:gridCol w="2435942">
                  <a:extLst>
                    <a:ext uri="{9D8B030D-6E8A-4147-A177-3AD203B41FA5}">
                      <a16:colId xmlns:a16="http://schemas.microsoft.com/office/drawing/2014/main" val="2564567008"/>
                    </a:ext>
                  </a:extLst>
                </a:gridCol>
                <a:gridCol w="2435942">
                  <a:extLst>
                    <a:ext uri="{9D8B030D-6E8A-4147-A177-3AD203B41FA5}">
                      <a16:colId xmlns:a16="http://schemas.microsoft.com/office/drawing/2014/main" val="175495755"/>
                    </a:ext>
                  </a:extLst>
                </a:gridCol>
                <a:gridCol w="2435942">
                  <a:extLst>
                    <a:ext uri="{9D8B030D-6E8A-4147-A177-3AD203B41FA5}">
                      <a16:colId xmlns:a16="http://schemas.microsoft.com/office/drawing/2014/main" val="2718744095"/>
                    </a:ext>
                  </a:extLst>
                </a:gridCol>
              </a:tblGrid>
              <a:tr h="3993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Turtle Life Stage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Biological Behavior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HTMO Component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Role in Optimization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66963194"/>
                  </a:ext>
                </a:extLst>
              </a:tr>
              <a:tr h="3995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🦩 Egg Stage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Laid on beach, stationary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Random Tour Initialization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Seeding the population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52919172"/>
                  </a:ext>
                </a:extLst>
              </a:tr>
              <a:tr h="7891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👶 Hatching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Rushing to sea, chaotic movement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OceanCurrentDrift()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Pure exploration with randomness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4031394"/>
                  </a:ext>
                </a:extLst>
              </a:tr>
              <a:tr h="7891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🌊 Juvenile Drift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Passive drifting in ocean; high mortality, no memory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Memory-Aware OceanCurrentDrift()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Smarter exploration: avoid known bad zones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27347754"/>
                  </a:ext>
                </a:extLst>
              </a:tr>
              <a:tr h="11787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🧑‍🌾 Adulthood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Develops navigation, remembers good/bad regions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ACMM() – Adaptive Cluster Magnetic Memory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Exploits strong clusters, avoids weak ones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6242584"/>
                  </a:ext>
                </a:extLst>
              </a:tr>
              <a:tr h="7891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🗺️ Mature Migration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Navigates toward precise targets using magnetic cues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MFBO(), CMA()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Local &amp; group-level refinement and alignment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87681009"/>
                  </a:ext>
                </a:extLst>
              </a:tr>
              <a:tr h="7891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🌺 Nesting Site Fidelity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Returns to birth beach with learned route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NestSiteMemory()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Retain elite solutions for convergence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56091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9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32E56E4-BCB0-0476-7A4B-A076E70492AD}"/>
              </a:ext>
            </a:extLst>
          </p:cNvPr>
          <p:cNvSpPr txBox="1"/>
          <p:nvPr/>
        </p:nvSpPr>
        <p:spPr>
          <a:xfrm>
            <a:off x="108155" y="1106514"/>
            <a:ext cx="544952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Algorithm Procedure – HTMO FINAL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Initialization (Egg Stage):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Generate an initial population of random tours.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Initialize memory structures for elite solutions and cluster strengths.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Exploration – Hatching &amp; Juvenile Stage: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Apply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OceanCurrentDrift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to introduce high-variance random variation.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Apply Memory-Aware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OceanCurrentDrift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- Generate random tours.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- Reject tours containing weak clusters identified in prior generations.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Mutation Control – Adulthood: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For each tour, apply ACMM():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- Divide tour into clusters (e.g., 3-city segments).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- Compute magnetic strength of each pair: 1/distance(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- Tag clusters as strong (preserve) or weak (avoid).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- Restrict mutation operators to act only on weak segments.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4B28B-2D9D-22E4-A822-97172317B828}"/>
              </a:ext>
            </a:extLst>
          </p:cNvPr>
          <p:cNvSpPr txBox="1"/>
          <p:nvPr/>
        </p:nvSpPr>
        <p:spPr>
          <a:xfrm>
            <a:off x="3350342" y="393857"/>
            <a:ext cx="611074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Detailed Algorithm Procedure – HTMO </a:t>
            </a:r>
            <a:endParaRPr lang="en-IN" sz="18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536113-533D-C6D9-7EA2-4906E7C58813}"/>
              </a:ext>
            </a:extLst>
          </p:cNvPr>
          <p:cNvSpPr txBox="1"/>
          <p:nvPr/>
        </p:nvSpPr>
        <p:spPr>
          <a:xfrm>
            <a:off x="5466734" y="1029570"/>
            <a:ext cx="6617111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5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Directional Refinement – Mature Migration:</a:t>
            </a:r>
          </a:p>
          <a:p>
            <a:pPr>
              <a:buNone/>
            </a:pPr>
            <a:r>
              <a:rPr lang="en-IN" sz="15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Apply MFBO():</a:t>
            </a:r>
          </a:p>
          <a:p>
            <a:pPr>
              <a:buNone/>
            </a:pPr>
            <a:r>
              <a:rPr lang="en-IN" sz="15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- Generate k neighbours.</a:t>
            </a:r>
          </a:p>
          <a:p>
            <a:pPr>
              <a:buNone/>
            </a:pPr>
            <a:r>
              <a:rPr lang="en-IN" sz="15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- Compute magnetic strength (fitness gradient) for each.</a:t>
            </a:r>
          </a:p>
          <a:p>
            <a:pPr>
              <a:buNone/>
            </a:pPr>
            <a:r>
              <a:rPr lang="en-IN" sz="15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- Move toward the best neighbour via guided swap or 2-opt.</a:t>
            </a:r>
          </a:p>
          <a:p>
            <a:pPr>
              <a:buNone/>
            </a:pPr>
            <a:r>
              <a:rPr lang="en-IN" sz="15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Apply CMA():</a:t>
            </a:r>
          </a:p>
          <a:p>
            <a:pPr>
              <a:buNone/>
            </a:pPr>
            <a:r>
              <a:rPr lang="en-IN" sz="15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- From elite tours, extract frequent sub paths.</a:t>
            </a:r>
          </a:p>
          <a:p>
            <a:pPr>
              <a:buNone/>
            </a:pPr>
            <a:r>
              <a:rPr lang="en-IN" sz="15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- Reconstruct current tour to align with those elite sub paths.</a:t>
            </a:r>
          </a:p>
          <a:p>
            <a:pPr>
              <a:buNone/>
            </a:pPr>
            <a:r>
              <a:rPr lang="en-IN" sz="15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buNone/>
            </a:pPr>
            <a:r>
              <a:rPr lang="en-IN" sz="15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Fitness Evaluation:</a:t>
            </a:r>
          </a:p>
          <a:p>
            <a:pPr>
              <a:buNone/>
            </a:pPr>
            <a:r>
              <a:rPr lang="en-IN" sz="15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Calculate total tour distance as fitness.</a:t>
            </a:r>
          </a:p>
          <a:p>
            <a:r>
              <a:rPr lang="en-IN" sz="15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Rank all solutions.</a:t>
            </a:r>
          </a:p>
          <a:p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Archive Update – Nesting Memory:</a:t>
            </a:r>
          </a:p>
          <a:p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Update elite memory (</a:t>
            </a:r>
            <a:r>
              <a:rPr lang="en-IN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NestSiteMemory</a:t>
            </a: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with best-performing tours.</a:t>
            </a:r>
          </a:p>
          <a:p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Replace worst tours or apply elitism to maintain population quality.</a:t>
            </a:r>
          </a:p>
          <a:p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Repeat:</a:t>
            </a:r>
          </a:p>
          <a:p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Repeat steps 2–6 until stopping condition is met (e.g., max iterations or convergence).</a:t>
            </a:r>
          </a:p>
          <a:p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Output:</a:t>
            </a:r>
          </a:p>
          <a:p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Return the best tour from </a:t>
            </a:r>
            <a:r>
              <a:rPr lang="en-IN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NestSiteMemory</a:t>
            </a:r>
            <a:endParaRPr lang="en-IN" sz="15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3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DEB6D7-B841-4F56-834A-6910516D2B32}"/>
              </a:ext>
            </a:extLst>
          </p:cNvPr>
          <p:cNvSpPr txBox="1"/>
          <p:nvPr/>
        </p:nvSpPr>
        <p:spPr>
          <a:xfrm>
            <a:off x="737419" y="1219200"/>
            <a:ext cx="8428703" cy="5202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OceanCurrentDrift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🔍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Purpose: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during early life (hatching and juvenile drift).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Introduces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 movement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explore a wide range of solutions.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🧬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Bio-Inspiration: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Mimics how juvenile turtles are carried passively by ocean currents without control.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⚙️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Behaviour: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Generates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 tours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performs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high-variance mutations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current tours.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Ensures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diversity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early iterations.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🔁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Role: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Exploration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Initial diversification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F29DC8-0FF4-E42C-47B3-24E20B27B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087" y="0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Operators Summary</a:t>
            </a:r>
          </a:p>
        </p:txBody>
      </p:sp>
    </p:spTree>
    <p:extLst>
      <p:ext uri="{BB962C8B-B14F-4D97-AF65-F5344CB8AC3E}">
        <p14:creationId xmlns:p14="http://schemas.microsoft.com/office/powerpoint/2010/main" val="375276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2118D-49B1-B77C-184C-1A43E67C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D4346-C36A-8637-CBF6-F4D954EE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727" y="272334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Memory-Aware Drift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FBA72-1F50-95D0-0A5C-BE3098B00181}"/>
              </a:ext>
            </a:extLst>
          </p:cNvPr>
          <p:cNvSpPr txBox="1"/>
          <p:nvPr/>
        </p:nvSpPr>
        <p:spPr>
          <a:xfrm>
            <a:off x="678426" y="1563329"/>
            <a:ext cx="976343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Memory-Aware </a:t>
            </a: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OceanCurrentDrift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Purpose: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turtles from revisiting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magnetic zones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bad structural patterns.</a:t>
            </a:r>
          </a:p>
          <a:p>
            <a:pPr lvl="0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🧬 Bio-Inspiration: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Juvenile turtles that survived learn to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dangerous or food-poor regions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⚙️ Behaviour: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Refers to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ACMM’s weak cluster memory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new tours that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contain known bad clusters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Encourages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directed exploration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without wasting effort.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🔁 Role: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exploration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 with memory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05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71407-00E5-23BF-2C2A-7AA3D80F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EE71-2C1C-6A4A-6C23-02AE5356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4203" y="189206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Operators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25F8CE-3CCD-05EB-B93E-B395D178EFEC}"/>
              </a:ext>
            </a:extLst>
          </p:cNvPr>
          <p:cNvSpPr txBox="1"/>
          <p:nvPr/>
        </p:nvSpPr>
        <p:spPr>
          <a:xfrm>
            <a:off x="734959" y="1617687"/>
            <a:ext cx="1006085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ACMM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 and preserve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city clusters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avoid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city </a:t>
            </a: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subpaths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🧬 Bio-Inspiration: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Adult turtles memorize rich feeding grounds and avoid areas with predators or low survival.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⚙️ Behaviour: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Splits tour into clusters (e.g., triplets).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Calculates magnetic strength: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Strength(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)=1Distance(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)\text{Strength}(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j) = \frac{1}{\text{Distance}(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)} 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Stores:</a:t>
            </a:r>
          </a:p>
          <a:p>
            <a:pPr lvl="1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clusters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prevent from being broken.</a:t>
            </a:r>
          </a:p>
          <a:p>
            <a:pPr lvl="1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clusters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avoid forming them again.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Guides mutation: only weak areas are mutated.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🔁 Role: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Exploitation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Mutation control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memory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56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B5EA-CA63-A277-F7D6-52E813210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5A4D-FD80-CFD1-AD00-F3ACC1E0E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4203" y="189206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ACMM – Deep Dive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ED70C5-1530-E5B2-8538-F829E76F7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349474"/>
                  </p:ext>
                </p:extLst>
              </p:nvPr>
            </p:nvGraphicFramePr>
            <p:xfrm>
              <a:off x="949683" y="2227492"/>
              <a:ext cx="10588920" cy="286561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294460">
                      <a:extLst>
                        <a:ext uri="{9D8B030D-6E8A-4147-A177-3AD203B41FA5}">
                          <a16:colId xmlns:a16="http://schemas.microsoft.com/office/drawing/2014/main" val="1101863186"/>
                        </a:ext>
                      </a:extLst>
                    </a:gridCol>
                    <a:gridCol w="5294460">
                      <a:extLst>
                        <a:ext uri="{9D8B030D-6E8A-4147-A177-3AD203B41FA5}">
                          <a16:colId xmlns:a16="http://schemas.microsoft.com/office/drawing/2014/main" val="1275154301"/>
                        </a:ext>
                      </a:extLst>
                    </a:gridCol>
                  </a:tblGrid>
                  <a:tr h="36027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Concept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Description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412673366"/>
                      </a:ext>
                    </a:extLst>
                  </a:tr>
                  <a:tr h="36048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Cluster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Group of 2-4 adjacent cities within a tour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492316760"/>
                      </a:ext>
                    </a:extLst>
                  </a:tr>
                  <a:tr h="7119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Magnetic Strength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</a:rPr>
                            <a:t>Inversely proportional to distance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1200" b="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oMath>
                          </a14:m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006474355"/>
                      </a:ext>
                    </a:extLst>
                  </a:tr>
                  <a:tr h="36048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Strong Cluster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</a:rPr>
                            <a:t>High-strength </a:t>
                          </a:r>
                          <a:r>
                            <a:rPr lang="en-IN" sz="1200" kern="100" dirty="0" err="1">
                              <a:effectLst/>
                            </a:rPr>
                            <a:t>subpath</a:t>
                          </a:r>
                          <a:r>
                            <a:rPr lang="en-IN" sz="1200" kern="100" dirty="0">
                              <a:effectLst/>
                            </a:rPr>
                            <a:t>, preserved in next iterations</a:t>
                          </a:r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286613053"/>
                      </a:ext>
                    </a:extLst>
                  </a:tr>
                  <a:tr h="36048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Weak Cluster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Low-strength cluster, avoided in reshaping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4080570272"/>
                      </a:ext>
                    </a:extLst>
                  </a:tr>
                  <a:tr h="7119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</a:rPr>
                            <a:t>Memory Bank</a:t>
                          </a:r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</a:rPr>
                            <a:t>Stores historically strong and weak clusters for adaptive mutation control</a:t>
                          </a:r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3962143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ED70C5-1530-E5B2-8538-F829E76F7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349474"/>
                  </p:ext>
                </p:extLst>
              </p:nvPr>
            </p:nvGraphicFramePr>
            <p:xfrm>
              <a:off x="949683" y="2227492"/>
              <a:ext cx="10588920" cy="286561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294460">
                      <a:extLst>
                        <a:ext uri="{9D8B030D-6E8A-4147-A177-3AD203B41FA5}">
                          <a16:colId xmlns:a16="http://schemas.microsoft.com/office/drawing/2014/main" val="1101863186"/>
                        </a:ext>
                      </a:extLst>
                    </a:gridCol>
                    <a:gridCol w="5294460">
                      <a:extLst>
                        <a:ext uri="{9D8B030D-6E8A-4147-A177-3AD203B41FA5}">
                          <a16:colId xmlns:a16="http://schemas.microsoft.com/office/drawing/2014/main" val="1275154301"/>
                        </a:ext>
                      </a:extLst>
                    </a:gridCol>
                  </a:tblGrid>
                  <a:tr h="36027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Concept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Description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412673366"/>
                      </a:ext>
                    </a:extLst>
                  </a:tr>
                  <a:tr h="36048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Cluster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Group of 2-4 adjacent cities within a tour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492316760"/>
                      </a:ext>
                    </a:extLst>
                  </a:tr>
                  <a:tr h="7119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Magnetic Strength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2"/>
                          <a:stretch>
                            <a:fillRect l="-100115" t="-101709" r="-460" b="-203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474355"/>
                      </a:ext>
                    </a:extLst>
                  </a:tr>
                  <a:tr h="36048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Strong Cluster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</a:rPr>
                            <a:t>High-strength </a:t>
                          </a:r>
                          <a:r>
                            <a:rPr lang="en-IN" sz="1200" kern="100" dirty="0" err="1">
                              <a:effectLst/>
                            </a:rPr>
                            <a:t>subpath</a:t>
                          </a:r>
                          <a:r>
                            <a:rPr lang="en-IN" sz="1200" kern="100" dirty="0">
                              <a:effectLst/>
                            </a:rPr>
                            <a:t>, preserved in next iterations</a:t>
                          </a:r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286613053"/>
                      </a:ext>
                    </a:extLst>
                  </a:tr>
                  <a:tr h="36048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Weak Cluster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</a:rPr>
                            <a:t>Low-strength cluster, avoided in reshaping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4080570272"/>
                      </a:ext>
                    </a:extLst>
                  </a:tr>
                  <a:tr h="7119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</a:rPr>
                            <a:t>Memory Bank</a:t>
                          </a:r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</a:rPr>
                            <a:t>Stores historically strong and weak clusters for adaptive mutation control</a:t>
                          </a:r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3962143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67621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95AA0-F46D-757B-8011-C6E43C0A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DBF77-CD4C-7F4E-42FE-7959A292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4203" y="189206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ACMM – Deep Dive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45EA7-F057-A05D-DE89-384C50AC4C29}"/>
              </a:ext>
            </a:extLst>
          </p:cNvPr>
          <p:cNvSpPr txBox="1"/>
          <p:nvPr/>
        </p:nvSpPr>
        <p:spPr>
          <a:xfrm>
            <a:off x="597310" y="1936354"/>
            <a:ext cx="6110748" cy="4772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Operator Workflow (ACMM)</a:t>
            </a:r>
            <a:endParaRPr lang="en-IN" sz="14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Cluster Generation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Generate candidate clusters from current tour (sliding window or combinatorial).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Strength Evaluation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sum of magnetic strength (1/distance) for each cluster.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Memory Update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 clusters with high strength to memory as "strong".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Mark high-cost (weak) clusters as "negative" zones.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Guided Mutation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During swap/2-opt, restrict breaking strong clusters.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Deprioritize forming known weak clusters.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Relearn Periodically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Re-cluster every N iterations to adapt to new tour structures.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D356002-3E1F-8212-ABB6-ABE9F88CC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8058" y="2000874"/>
            <a:ext cx="443418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 Walkthrough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Tour: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→ C → E → B → D → F → A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Cluster Candidates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ACE, BDF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ADF, CBE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ABF, CDE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2: Strength Evaluation (e.g., ACE)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3: Memory Update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ACE added to strong memory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ABF (score = 0.67) marked as weak cluster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4: Guided Evolution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Future swaps must not break ACE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 forming ABF in reshuffled tour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50633D-442E-9CE5-E5CC-87EDC2D6E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452552"/>
              </p:ext>
            </p:extLst>
          </p:nvPr>
        </p:nvGraphicFramePr>
        <p:xfrm>
          <a:off x="9370409" y="2943618"/>
          <a:ext cx="2585616" cy="22183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1872">
                  <a:extLst>
                    <a:ext uri="{9D8B030D-6E8A-4147-A177-3AD203B41FA5}">
                      <a16:colId xmlns:a16="http://schemas.microsoft.com/office/drawing/2014/main" val="1717577774"/>
                    </a:ext>
                  </a:extLst>
                </a:gridCol>
                <a:gridCol w="861872">
                  <a:extLst>
                    <a:ext uri="{9D8B030D-6E8A-4147-A177-3AD203B41FA5}">
                      <a16:colId xmlns:a16="http://schemas.microsoft.com/office/drawing/2014/main" val="2371559892"/>
                    </a:ext>
                  </a:extLst>
                </a:gridCol>
                <a:gridCol w="861872">
                  <a:extLst>
                    <a:ext uri="{9D8B030D-6E8A-4147-A177-3AD203B41FA5}">
                      <a16:colId xmlns:a16="http://schemas.microsoft.com/office/drawing/2014/main" val="1273615836"/>
                    </a:ext>
                  </a:extLst>
                </a:gridCol>
              </a:tblGrid>
              <a:tr h="5100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Pair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Distance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Magnetic Strength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27792625"/>
                  </a:ext>
                </a:extLst>
              </a:tr>
              <a:tr h="4264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A-C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2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0.50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25688666"/>
                  </a:ext>
                </a:extLst>
              </a:tr>
              <a:tr h="4264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A-E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0.33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1363840"/>
                  </a:ext>
                </a:extLst>
              </a:tr>
              <a:tr h="4264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C-E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0.25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55682471"/>
                  </a:ext>
                </a:extLst>
              </a:tr>
              <a:tr h="429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Total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1.08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91872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595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6D122-F367-20C6-7A77-005C06D42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8A075-7D03-90AE-24F3-2C15B012A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4203" y="189206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ACMM – Deep Dive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F0B1B-1F5F-2517-390A-45FA05906C61}"/>
              </a:ext>
            </a:extLst>
          </p:cNvPr>
          <p:cNvSpPr txBox="1"/>
          <p:nvPr/>
        </p:nvSpPr>
        <p:spPr>
          <a:xfrm>
            <a:off x="843116" y="1813658"/>
            <a:ext cx="10798278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ACMM is biologically inspired, structurally intelligent, and highly compatible with existing metaheuristics.</a:t>
            </a:r>
            <a:br>
              <a:rPr lang="en-IN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can be embedded in TSP solvers or generalized to VRP, routing, or layout optimization with slight modifications.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CD423-9B22-0B43-2287-28C318748D68}"/>
              </a:ext>
            </a:extLst>
          </p:cNvPr>
          <p:cNvSpPr txBox="1"/>
          <p:nvPr/>
        </p:nvSpPr>
        <p:spPr>
          <a:xfrm>
            <a:off x="843115" y="2926636"/>
            <a:ext cx="10695487" cy="2319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Biological Origin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Inspired by sea turtles' ability to navigate using Earth’s magnetic field and their tendency to revisit high-value feeding or nesting zones.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Behavioural Pattern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Turtles cluster near food-rich zones and avoid energetically costly paths.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Translation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Cities in a TSP tour are treated as turtle checkpoints.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Pairs or clusters of cities with lower travel costs form "magnetically stable" patterns.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patterns are stored and used to influence future iterations.</a:t>
            </a:r>
          </a:p>
        </p:txBody>
      </p:sp>
    </p:spTree>
    <p:extLst>
      <p:ext uri="{BB962C8B-B14F-4D97-AF65-F5344CB8AC3E}">
        <p14:creationId xmlns:p14="http://schemas.microsoft.com/office/powerpoint/2010/main" val="571985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624F4-27C8-8D4B-FAEB-5947EBAA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28294-255B-95B7-8723-BE5FCED04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727" y="272334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MFBO – Deep Dive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D2CDA-389C-6D6D-1F1C-65306BC87D14}"/>
              </a:ext>
            </a:extLst>
          </p:cNvPr>
          <p:cNvSpPr txBox="1"/>
          <p:nvPr/>
        </p:nvSpPr>
        <p:spPr>
          <a:xfrm>
            <a:off x="235974" y="1533831"/>
            <a:ext cx="604683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Field-Based Orientation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Purpose: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a turtle move toward the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promising local neighbour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🧬 Bio-Inspiration: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Turtles sense Earth’s magnetic field to adjust direction during migration.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⚙️ Behaviour: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several neighbour tours via small changes.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Computes magnetic pull based on fitness improvement: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Chooses the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strongest magnetic pull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moves toward it.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🔁 Role: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exploitation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 direction-based movement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A5758-A5F6-C7DD-C347-283D0A5BAAA7}"/>
              </a:ext>
            </a:extLst>
          </p:cNvPr>
          <p:cNvSpPr txBox="1"/>
          <p:nvPr/>
        </p:nvSpPr>
        <p:spPr>
          <a:xfrm>
            <a:off x="6282813" y="1533831"/>
            <a:ext cx="5250426" cy="1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say we have these cities: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A, B, C, D, E, F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🧭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Current Tour (Turtle Position):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→ C → E → B → D → F → A Cost = 18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generate </a:t>
            </a:r>
            <a:r>
              <a:rPr lang="en-IN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neighbour tours</a:t>
            </a: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via 2-opt or swap: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19F24B-6D4A-B4A5-D817-51A4AF92C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946052"/>
              </p:ext>
            </p:extLst>
          </p:nvPr>
        </p:nvGraphicFramePr>
        <p:xfrm>
          <a:off x="6046839" y="3343792"/>
          <a:ext cx="5909187" cy="17039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1837">
                  <a:extLst>
                    <a:ext uri="{9D8B030D-6E8A-4147-A177-3AD203B41FA5}">
                      <a16:colId xmlns:a16="http://schemas.microsoft.com/office/drawing/2014/main" val="2716310180"/>
                    </a:ext>
                  </a:extLst>
                </a:gridCol>
                <a:gridCol w="1769108">
                  <a:extLst>
                    <a:ext uri="{9D8B030D-6E8A-4147-A177-3AD203B41FA5}">
                      <a16:colId xmlns:a16="http://schemas.microsoft.com/office/drawing/2014/main" val="2683206045"/>
                    </a:ext>
                  </a:extLst>
                </a:gridCol>
                <a:gridCol w="619947">
                  <a:extLst>
                    <a:ext uri="{9D8B030D-6E8A-4147-A177-3AD203B41FA5}">
                      <a16:colId xmlns:a16="http://schemas.microsoft.com/office/drawing/2014/main" val="3627237497"/>
                    </a:ext>
                  </a:extLst>
                </a:gridCol>
                <a:gridCol w="873290">
                  <a:extLst>
                    <a:ext uri="{9D8B030D-6E8A-4147-A177-3AD203B41FA5}">
                      <a16:colId xmlns:a16="http://schemas.microsoft.com/office/drawing/2014/main" val="1352700837"/>
                    </a:ext>
                  </a:extLst>
                </a:gridCol>
                <a:gridCol w="1465005">
                  <a:extLst>
                    <a:ext uri="{9D8B030D-6E8A-4147-A177-3AD203B41FA5}">
                      <a16:colId xmlns:a16="http://schemas.microsoft.com/office/drawing/2014/main" val="1459449272"/>
                    </a:ext>
                  </a:extLst>
                </a:gridCol>
              </a:tblGrid>
              <a:tr h="2972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Neighbour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New Tour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Cost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Δf (delta fitness)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Magnetic Strength (M = e^(-α × Δf))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48782049"/>
                  </a:ext>
                </a:extLst>
              </a:tr>
              <a:tr h="2973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N1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A → C → B → E → D → F → A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20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2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0.135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11211078"/>
                  </a:ext>
                </a:extLst>
              </a:tr>
              <a:tr h="2973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N2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 → C → E → D → B → F → A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17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-1 (better)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2.718 (Strong pull)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6037779"/>
                  </a:ext>
                </a:extLst>
              </a:tr>
              <a:tr h="2973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N3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 → D → C → E → B → F → A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0.368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8046616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372F0AF-3761-E7A5-5629-CB97039A1361}"/>
              </a:ext>
            </a:extLst>
          </p:cNvPr>
          <p:cNvSpPr txBox="1"/>
          <p:nvPr/>
        </p:nvSpPr>
        <p:spPr>
          <a:xfrm>
            <a:off x="6046839" y="5130766"/>
            <a:ext cx="6199238" cy="1704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Best pull = N2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lowest cost (better fitness)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 the turtle </a:t>
            </a:r>
            <a:r>
              <a:rPr lang="en-IN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moves toward N2</a:t>
            </a:r>
            <a:r>
              <a:rPr lang="en-IN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 applying the corresponding 2-opt or swap (swap B and D)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tour after MFBO: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C → E → D → B → F → A Cost = 17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970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7603A-FE2A-6565-5145-11A0E724B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D770-93A2-D701-C2BB-65CDB772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706" y="172581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Iteration Explained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47CD49-7307-6D94-379E-456C70030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905574"/>
              </p:ext>
            </p:extLst>
          </p:nvPr>
        </p:nvGraphicFramePr>
        <p:xfrm>
          <a:off x="1755929" y="1947790"/>
          <a:ext cx="8534400" cy="34093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479225857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360202940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36563335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Operator Used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Explanation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1973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🐣 1. Ocean Drift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OceanCurrentDrift()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Random perturbation → A → C → E → B → D → F → A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09260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🌊 2. Memory-Aware Drift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MemoryAwareOceanCurrentDrift()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Weak clusters like (B,D,F) identified in past → skip them if formed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55013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🧠 3. ACMM()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Finds strong cluster: (A,C,E) → preserve; Marks (B,D,F) as weak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01198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🧲 4. MFBO()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Generates 3 neighbors → one gives better cost (19) → reorients toward that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0033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🌌 5. CMA()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Looks at elite group → most have A → D → C → aligns current tour with this pattern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77206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🐢 6. Evaluation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Cost is recomputed (e.g., 18) and compared to elite archive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0432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🪺 7. NestSiteMemory()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If improved, store as elite solution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13847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5645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131DB-2D7E-F8BF-D92F-E0C65140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BE11-1CF5-C96D-77C6-17FB1C56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706" y="172581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Iteration Explained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B6231-ECBE-7AE3-1336-3E0EA3EE03C2}"/>
              </a:ext>
            </a:extLst>
          </p:cNvPr>
          <p:cNvSpPr txBox="1"/>
          <p:nvPr/>
        </p:nvSpPr>
        <p:spPr>
          <a:xfrm>
            <a:off x="361335" y="1374848"/>
            <a:ext cx="7317658" cy="270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Inputs: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Tour from Iteration 1 (above)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Updated memory: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Strong clusters: A–D–C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Weak clusters: B–F–E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Next Steps: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OceanCurrentDrift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attempts new variation</a:t>
            </a: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e.g., generates: A → C → B → D → F → E → A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Memory-Aware Drift blocks this if it contains (B,F,E)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4AF08-EF2B-B111-76DC-E058F33FFC72}"/>
              </a:ext>
            </a:extLst>
          </p:cNvPr>
          <p:cNvSpPr txBox="1"/>
          <p:nvPr/>
        </p:nvSpPr>
        <p:spPr>
          <a:xfrm>
            <a:off x="361335" y="4188453"/>
            <a:ext cx="6110748" cy="249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     ACMM() detects: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A–D–C still strong → lock it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(C,B) = weak → candidate for swap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     MFBO() senses </a:t>
            </a:r>
            <a:r>
              <a:rPr lang="en-IN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neighbors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Swapping B–F improves to cost = 17 → adopts it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     CMA() checks elite patterns: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Reorders to A → D → C → F → B → E → A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     Fitness updated → if better than 18, added to elite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0AEAB85-5338-CF36-7CCD-5DB7EC128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579107"/>
              </p:ext>
            </p:extLst>
          </p:nvPr>
        </p:nvGraphicFramePr>
        <p:xfrm>
          <a:off x="4508961" y="2488625"/>
          <a:ext cx="6955450" cy="2407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8781">
                  <a:extLst>
                    <a:ext uri="{9D8B030D-6E8A-4147-A177-3AD203B41FA5}">
                      <a16:colId xmlns:a16="http://schemas.microsoft.com/office/drawing/2014/main" val="2149580446"/>
                    </a:ext>
                  </a:extLst>
                </a:gridCol>
                <a:gridCol w="2605549">
                  <a:extLst>
                    <a:ext uri="{9D8B030D-6E8A-4147-A177-3AD203B41FA5}">
                      <a16:colId xmlns:a16="http://schemas.microsoft.com/office/drawing/2014/main" val="3981410876"/>
                    </a:ext>
                  </a:extLst>
                </a:gridCol>
                <a:gridCol w="668940">
                  <a:extLst>
                    <a:ext uri="{9D8B030D-6E8A-4147-A177-3AD203B41FA5}">
                      <a16:colId xmlns:a16="http://schemas.microsoft.com/office/drawing/2014/main" val="2630735773"/>
                    </a:ext>
                  </a:extLst>
                </a:gridCol>
                <a:gridCol w="943550">
                  <a:extLst>
                    <a:ext uri="{9D8B030D-6E8A-4147-A177-3AD203B41FA5}">
                      <a16:colId xmlns:a16="http://schemas.microsoft.com/office/drawing/2014/main" val="924417867"/>
                    </a:ext>
                  </a:extLst>
                </a:gridCol>
                <a:gridCol w="1838630">
                  <a:extLst>
                    <a:ext uri="{9D8B030D-6E8A-4147-A177-3AD203B41FA5}">
                      <a16:colId xmlns:a16="http://schemas.microsoft.com/office/drawing/2014/main" val="1815077990"/>
                    </a:ext>
                  </a:extLst>
                </a:gridCol>
              </a:tblGrid>
              <a:tr h="6018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Iteration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Tour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Cost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Elite Update?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Cluster Memory Change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96213065"/>
                  </a:ext>
                </a:extLst>
              </a:tr>
              <a:tr h="601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A → B → C → D → E → F → A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Yes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Weak: B–C, E–F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27897661"/>
                  </a:ext>
                </a:extLst>
              </a:tr>
              <a:tr h="601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 → D → C → E → B → F → A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18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Yes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Strong: A–D–C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36974"/>
                  </a:ext>
                </a:extLst>
              </a:tr>
              <a:tr h="601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 → D → C → F → B → E → A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17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Yes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Weak: B–F–E added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6555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468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4DCAA-4356-96A8-A555-900219A46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1C8C-8DA5-3F36-6690-4053AA580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57255"/>
            <a:ext cx="8534400" cy="1507067"/>
          </a:xfrm>
        </p:spPr>
        <p:txBody>
          <a:bodyPr/>
          <a:lstStyle/>
          <a:p>
            <a:pPr algn="ctr"/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Exploration vs Exploitation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5FAC57-8478-87E6-E5B1-CED7407B7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181913"/>
              </p:ext>
            </p:extLst>
          </p:nvPr>
        </p:nvGraphicFramePr>
        <p:xfrm>
          <a:off x="507660" y="1620454"/>
          <a:ext cx="6487992" cy="3900358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2162664">
                  <a:extLst>
                    <a:ext uri="{9D8B030D-6E8A-4147-A177-3AD203B41FA5}">
                      <a16:colId xmlns:a16="http://schemas.microsoft.com/office/drawing/2014/main" val="4086950281"/>
                    </a:ext>
                  </a:extLst>
                </a:gridCol>
                <a:gridCol w="2162664">
                  <a:extLst>
                    <a:ext uri="{9D8B030D-6E8A-4147-A177-3AD203B41FA5}">
                      <a16:colId xmlns:a16="http://schemas.microsoft.com/office/drawing/2014/main" val="2434427260"/>
                    </a:ext>
                  </a:extLst>
                </a:gridCol>
                <a:gridCol w="2162664">
                  <a:extLst>
                    <a:ext uri="{9D8B030D-6E8A-4147-A177-3AD203B41FA5}">
                      <a16:colId xmlns:a16="http://schemas.microsoft.com/office/drawing/2014/main" val="2014067396"/>
                    </a:ext>
                  </a:extLst>
                </a:gridCol>
              </a:tblGrid>
              <a:tr h="278057">
                <a:tc>
                  <a:txBody>
                    <a:bodyPr/>
                    <a:lstStyle/>
                    <a:p>
                      <a:r>
                        <a:rPr lang="en-IN" sz="1400"/>
                        <a:t>Component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Type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Mechanism</a:t>
                      </a:r>
                    </a:p>
                  </a:txBody>
                  <a:tcPr marL="69514" marR="69514" marT="34757" marB="34757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5635113"/>
                  </a:ext>
                </a:extLst>
              </a:tr>
              <a:tr h="278057">
                <a:tc>
                  <a:txBody>
                    <a:bodyPr/>
                    <a:lstStyle/>
                    <a:p>
                      <a:r>
                        <a:rPr lang="en-IN" sz="1400" dirty="0"/>
                        <a:t>Ocean Current Drift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ysClr val="windowText" lastClr="000000"/>
                          </a:solidFill>
                        </a:rPr>
                        <a:t>Exploration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ysClr val="windowText" lastClr="000000"/>
                          </a:solidFill>
                        </a:rPr>
                        <a:t>Random tour reshuffling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066055"/>
                  </a:ext>
                </a:extLst>
              </a:tr>
              <a:tr h="486599">
                <a:tc>
                  <a:txBody>
                    <a:bodyPr/>
                    <a:lstStyle/>
                    <a:p>
                      <a:r>
                        <a:rPr lang="en-IN" sz="1400"/>
                        <a:t>Memory-Aware Ocean Drift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ysClr val="windowText" lastClr="000000"/>
                          </a:solidFill>
                        </a:rPr>
                        <a:t>Exploration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Avoids known weak cluster structures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377956"/>
                  </a:ext>
                </a:extLst>
              </a:tr>
              <a:tr h="695142">
                <a:tc>
                  <a:txBody>
                    <a:bodyPr/>
                    <a:lstStyle/>
                    <a:p>
                      <a:r>
                        <a:rPr lang="en-IN" sz="1400"/>
                        <a:t>ACMM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ysClr val="windowText" lastClr="000000"/>
                          </a:solidFill>
                        </a:rPr>
                        <a:t>Exploitation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Preserves high-quality subclusters and restricts damaging mutations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623122"/>
                  </a:ext>
                </a:extLst>
              </a:tr>
              <a:tr h="695142">
                <a:tc>
                  <a:txBody>
                    <a:bodyPr/>
                    <a:lstStyle/>
                    <a:p>
                      <a:r>
                        <a:rPr lang="en-IN" sz="1400"/>
                        <a:t>MFBO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ysClr val="windowText" lastClr="000000"/>
                          </a:solidFill>
                        </a:rPr>
                        <a:t>Exploitation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Moves toward best local neighbor based on magnetic strength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734499"/>
                  </a:ext>
                </a:extLst>
              </a:tr>
              <a:tr h="486599">
                <a:tc>
                  <a:txBody>
                    <a:bodyPr/>
                    <a:lstStyle/>
                    <a:p>
                      <a:r>
                        <a:rPr lang="en-IN" sz="1400"/>
                        <a:t>CMA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ysClr val="windowText" lastClr="000000"/>
                          </a:solidFill>
                        </a:rPr>
                        <a:t>Exploitation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Reorders based on frequent elite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</a:rPr>
                        <a:t>subpaths</a:t>
                      </a:r>
                      <a:endParaRPr 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25660"/>
                  </a:ext>
                </a:extLst>
              </a:tr>
              <a:tr h="695142">
                <a:tc>
                  <a:txBody>
                    <a:bodyPr/>
                    <a:lstStyle/>
                    <a:p>
                      <a:r>
                        <a:rPr lang="en-IN" sz="1400" dirty="0" err="1"/>
                        <a:t>NestSiteMemory</a:t>
                      </a:r>
                      <a:endParaRPr lang="en-IN" sz="1400" dirty="0"/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ysClr val="windowText" lastClr="000000"/>
                          </a:solidFill>
                        </a:rPr>
                        <a:t>Exploitation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Keeps best tours and uses them for convergence</a:t>
                      </a:r>
                    </a:p>
                  </a:txBody>
                  <a:tcPr marL="69514" marR="69514" marT="34757" marB="3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118015"/>
                  </a:ext>
                </a:extLst>
              </a:tr>
            </a:tbl>
          </a:graphicData>
        </a:graphic>
      </p:graphicFrame>
      <p:sp>
        <p:nvSpPr>
          <p:cNvPr id="15" name="Flowchart: Merge 14">
            <a:extLst>
              <a:ext uri="{FF2B5EF4-FFF2-40B4-BE49-F238E27FC236}">
                <a16:creationId xmlns:a16="http://schemas.microsoft.com/office/drawing/2014/main" id="{789D836E-8087-D1CB-6F5D-DA7D39244EFC}"/>
              </a:ext>
            </a:extLst>
          </p:cNvPr>
          <p:cNvSpPr/>
          <p:nvPr/>
        </p:nvSpPr>
        <p:spPr>
          <a:xfrm rot="16003819">
            <a:off x="8672966" y="683867"/>
            <a:ext cx="1111045" cy="4144636"/>
          </a:xfrm>
          <a:prstGeom prst="flowChartMerg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Ocean Current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(Exploration)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6" name="Flowchart: Merge 15">
            <a:extLst>
              <a:ext uri="{FF2B5EF4-FFF2-40B4-BE49-F238E27FC236}">
                <a16:creationId xmlns:a16="http://schemas.microsoft.com/office/drawing/2014/main" id="{68CBCBCE-C3EA-0743-C1BF-AFE3A9C92312}"/>
              </a:ext>
            </a:extLst>
          </p:cNvPr>
          <p:cNvSpPr/>
          <p:nvPr/>
        </p:nvSpPr>
        <p:spPr>
          <a:xfrm rot="5231919">
            <a:off x="9358447" y="1293570"/>
            <a:ext cx="1111045" cy="4041097"/>
          </a:xfrm>
          <a:prstGeom prst="flowChartMerg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Magnetic Cue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(Exploitation)</a:t>
            </a:r>
            <a:endParaRPr lang="en-IN" sz="1400" dirty="0">
              <a:solidFill>
                <a:schemeClr val="bg1"/>
              </a:solidFill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5D91AD-B601-2E66-524F-44CDB6C920C7}"/>
              </a:ext>
            </a:extLst>
          </p:cNvPr>
          <p:cNvCxnSpPr/>
          <p:nvPr/>
        </p:nvCxnSpPr>
        <p:spPr>
          <a:xfrm>
            <a:off x="7285703" y="4404852"/>
            <a:ext cx="4454013" cy="0"/>
          </a:xfrm>
          <a:prstGeom prst="straightConnector1">
            <a:avLst/>
          </a:prstGeom>
          <a:ln>
            <a:tailEnd type="triangle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209B45D-0297-A373-7AC1-EBCA91708C4B}"/>
              </a:ext>
            </a:extLst>
          </p:cNvPr>
          <p:cNvSpPr txBox="1"/>
          <p:nvPr/>
        </p:nvSpPr>
        <p:spPr>
          <a:xfrm>
            <a:off x="8472512" y="4404852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turtle ages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940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B0905-36BA-EC80-C02D-FAD543578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F441-77D0-B477-C966-70016C199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126" y="172581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Uniqueness &amp; Contribution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BAA8C-F8C8-2CFB-C022-E94E362397F6}"/>
              </a:ext>
            </a:extLst>
          </p:cNvPr>
          <p:cNvSpPr txBox="1"/>
          <p:nvPr/>
        </p:nvSpPr>
        <p:spPr>
          <a:xfrm>
            <a:off x="963561" y="1679648"/>
            <a:ext cx="82025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simulation of a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animal life cycle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biological accuracy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Memory-Aware Drift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Unlike typical random mutation, drift is conditionally restricted based on learned bad patterns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ACMM (Adaptive Cluster Magnetic Memory)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Real-time scoring of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subpath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strength with memory-based mutation control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(MFBO)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(CMA)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directional updates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and phase-driven design, allowing future upgrades</a:t>
            </a:r>
          </a:p>
        </p:txBody>
      </p:sp>
    </p:spTree>
    <p:extLst>
      <p:ext uri="{BB962C8B-B14F-4D97-AF65-F5344CB8AC3E}">
        <p14:creationId xmlns:p14="http://schemas.microsoft.com/office/powerpoint/2010/main" val="3631364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F539C-25F6-CD1A-1F7A-1D39CFECB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045A0-E250-1C71-9672-672129C16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544" y="0"/>
            <a:ext cx="8534400" cy="1507067"/>
          </a:xfrm>
        </p:spPr>
        <p:txBody>
          <a:bodyPr/>
          <a:lstStyle/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to tune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6D4FF2-AE84-F3E5-24D3-63D47C129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035643"/>
              </p:ext>
            </p:extLst>
          </p:nvPr>
        </p:nvGraphicFramePr>
        <p:xfrm>
          <a:off x="3021544" y="1901034"/>
          <a:ext cx="5816838" cy="38115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08419">
                  <a:extLst>
                    <a:ext uri="{9D8B030D-6E8A-4147-A177-3AD203B41FA5}">
                      <a16:colId xmlns:a16="http://schemas.microsoft.com/office/drawing/2014/main" val="2349070817"/>
                    </a:ext>
                  </a:extLst>
                </a:gridCol>
                <a:gridCol w="2908419">
                  <a:extLst>
                    <a:ext uri="{9D8B030D-6E8A-4147-A177-3AD203B41FA5}">
                      <a16:colId xmlns:a16="http://schemas.microsoft.com/office/drawing/2014/main" val="2223145698"/>
                    </a:ext>
                  </a:extLst>
                </a:gridCol>
              </a:tblGrid>
              <a:tr h="5461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Parameter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Role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23019529"/>
                  </a:ext>
                </a:extLst>
              </a:tr>
              <a:tr h="5465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Population size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Number of turtles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12475894"/>
                  </a:ext>
                </a:extLst>
              </a:tr>
              <a:tr h="5465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Max Iterations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Stopping criteria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28620448"/>
                  </a:ext>
                </a:extLst>
              </a:tr>
              <a:tr h="5465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α (alpha) in MFBO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Magnetic pull sensitivity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25469944"/>
                  </a:ext>
                </a:extLst>
              </a:tr>
              <a:tr h="10793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Memory update rate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How often ACMM memory is refreshed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6694012"/>
                  </a:ext>
                </a:extLst>
              </a:tr>
              <a:tr h="5465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Drift intensity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Magnitude of randomization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1206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466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6DD722-455D-CDD7-8C51-C94435B8CFF9}"/>
              </a:ext>
            </a:extLst>
          </p:cNvPr>
          <p:cNvSpPr/>
          <p:nvPr/>
        </p:nvSpPr>
        <p:spPr>
          <a:xfrm>
            <a:off x="4285250" y="2967335"/>
            <a:ext cx="36215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8891890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227</TotalTime>
  <Words>2251</Words>
  <Application>Microsoft Office PowerPoint</Application>
  <PresentationFormat>Widescreen</PresentationFormat>
  <Paragraphs>346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Cambria Math</vt:lpstr>
      <vt:lpstr>Century Gothic</vt:lpstr>
      <vt:lpstr>Courier New</vt:lpstr>
      <vt:lpstr>Segoe UI Emoji</vt:lpstr>
      <vt:lpstr>Symbol</vt:lpstr>
      <vt:lpstr>Times New Roman</vt:lpstr>
      <vt:lpstr>Wingdings 3</vt:lpstr>
      <vt:lpstr>Slice</vt:lpstr>
      <vt:lpstr>PowerPoint Presentation</vt:lpstr>
      <vt:lpstr>Motivation &amp; Bio-Inspiration Overview</vt:lpstr>
      <vt:lpstr>PowerPoint Presentation</vt:lpstr>
      <vt:lpstr>PowerPoint Presentation</vt:lpstr>
      <vt:lpstr>High-Level Algorithm Structure</vt:lpstr>
      <vt:lpstr>PowerPoint Presentation</vt:lpstr>
      <vt:lpstr>Key Operators Summary</vt:lpstr>
      <vt:lpstr>Memory-Aware Drift</vt:lpstr>
      <vt:lpstr>Key Operators Summary</vt:lpstr>
      <vt:lpstr>ACMM – Deep Dive</vt:lpstr>
      <vt:lpstr>ACMM – Deep Dive</vt:lpstr>
      <vt:lpstr>ACMM – Deep Dive</vt:lpstr>
      <vt:lpstr> MFBO – Deep Dive</vt:lpstr>
      <vt:lpstr>One Iteration Explained</vt:lpstr>
      <vt:lpstr>One Iteration Explained</vt:lpstr>
      <vt:lpstr>Exploration vs Exploitation</vt:lpstr>
      <vt:lpstr>Uniqueness &amp; Contribution</vt:lpstr>
      <vt:lpstr>parameter to tune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VIMAL DE SOUZA</dc:creator>
  <cp:lastModifiedBy>VIMAL DE SOUZA</cp:lastModifiedBy>
  <cp:revision>8</cp:revision>
  <dcterms:created xsi:type="dcterms:W3CDTF">2025-06-19T21:19:26Z</dcterms:created>
  <dcterms:modified xsi:type="dcterms:W3CDTF">2025-06-20T01:07:10Z</dcterms:modified>
</cp:coreProperties>
</file>